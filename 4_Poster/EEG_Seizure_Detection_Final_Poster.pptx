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24688800"/>
  <p:notesSz cx="246888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914400" y="320040"/>
            <a:ext cx="42062400" cy="685800"/>
          </a:xfrm>
          <a:prstGeom prst="rect">
            <a:avLst/>
          </a:prstGeom>
          <a:noFill/>
          <a:ln/>
        </p:spPr>
        <p:txBody>
          <a:bodyPr wrap="square" lIns="0" tIns="0" rIns="0" bIns="0" rtlCol="0" anchor="t">
            <a:normAutofit/>
          </a:bodyPr>
          <a:lstStyle/>
          <a:p>
            <a:pPr algn="ctr" indent="0" marL="0">
              <a:lnSpc>
                <a:spcPct val="92000"/>
              </a:lnSpc>
              <a:buNone/>
            </a:pPr>
            <a:r>
              <a:rPr lang="en-US" sz="3100" b="1" dirty="0">
                <a:solidFill>
                  <a:srgbClr val="0F172A"/>
                </a:solidFill>
                <a:latin typeface="Aptos Display" pitchFamily="34" charset="0"/>
                <a:ea typeface="Aptos Display" pitchFamily="34" charset="-122"/>
                <a:cs typeface="Aptos Display" pitchFamily="34" charset="-120"/>
              </a:rPr>
              <a:t>Patient Calibrated Dynamic Graph Fusion for Cross-Patient EEG Seizure Detection</a:t>
            </a:r>
            <a:endParaRPr lang="en-US" sz="3100" dirty="0"/>
          </a:p>
        </p:txBody>
      </p:sp>
      <p:sp>
        <p:nvSpPr>
          <p:cNvPr id="3" name="Text 1"/>
          <p:cNvSpPr/>
          <p:nvPr/>
        </p:nvSpPr>
        <p:spPr>
          <a:xfrm>
            <a:off x="914400" y="1143000"/>
            <a:ext cx="42062400" cy="384048"/>
          </a:xfrm>
          <a:prstGeom prst="rect">
            <a:avLst/>
          </a:prstGeom>
          <a:noFill/>
          <a:ln/>
        </p:spPr>
        <p:txBody>
          <a:bodyPr wrap="square" lIns="0" tIns="0" rIns="0" bIns="0" rtlCol="0" anchor="t">
            <a:normAutofit/>
          </a:bodyPr>
          <a:lstStyle/>
          <a:p>
            <a:pPr algn="ctr" indent="0" marL="0">
              <a:lnSpc>
                <a:spcPct val="92000"/>
              </a:lnSpc>
              <a:buNone/>
            </a:pPr>
            <a:r>
              <a:rPr lang="en-US" sz="1550" dirty="0">
                <a:solidFill>
                  <a:srgbClr val="475569"/>
                </a:solidFill>
                <a:latin typeface="Aptos" pitchFamily="34" charset="0"/>
                <a:ea typeface="Aptos" pitchFamily="34" charset="-122"/>
                <a:cs typeface="Aptos" pitchFamily="34" charset="-120"/>
              </a:rPr>
              <a:t>ESMAIL IBRAHIM MOHAMMED AL-NAKEEB    |    ID: 2598555    |    Bahçeşehir University, M.Sc. Artificial Intelligence</a:t>
            </a:r>
            <a:endParaRPr lang="en-US" sz="1550" dirty="0"/>
          </a:p>
        </p:txBody>
      </p:sp>
      <p:sp>
        <p:nvSpPr>
          <p:cNvPr id="4" name="Text 2"/>
          <p:cNvSpPr/>
          <p:nvPr/>
        </p:nvSpPr>
        <p:spPr>
          <a:xfrm>
            <a:off x="914400" y="1572768"/>
            <a:ext cx="42062400" cy="347472"/>
          </a:xfrm>
          <a:prstGeom prst="rect">
            <a:avLst/>
          </a:prstGeom>
          <a:noFill/>
          <a:ln/>
        </p:spPr>
        <p:txBody>
          <a:bodyPr wrap="square" lIns="0" tIns="0" rIns="0" bIns="0" rtlCol="0" anchor="t">
            <a:normAutofit/>
          </a:bodyPr>
          <a:lstStyle/>
          <a:p>
            <a:pPr algn="ctr" indent="0" marL="0">
              <a:lnSpc>
                <a:spcPct val="92000"/>
              </a:lnSpc>
              <a:buNone/>
            </a:pPr>
            <a:r>
              <a:rPr lang="en-US" sz="1350" i="1" dirty="0">
                <a:solidFill>
                  <a:srgbClr val="0E7490"/>
                </a:solidFill>
                <a:latin typeface="Aptos" pitchFamily="34" charset="0"/>
                <a:ea typeface="Aptos" pitchFamily="34" charset="-122"/>
                <a:cs typeface="Aptos" pitchFamily="34" charset="-120"/>
              </a:rPr>
              <a:t>Research poster for ARI5004 Deep Learning Final Project</a:t>
            </a:r>
            <a:endParaRPr lang="en-US" sz="1350" dirty="0"/>
          </a:p>
        </p:txBody>
      </p:sp>
      <p:sp>
        <p:nvSpPr>
          <p:cNvPr id="5" name="Shape 3"/>
          <p:cNvSpPr/>
          <p:nvPr/>
        </p:nvSpPr>
        <p:spPr>
          <a:xfrm>
            <a:off x="914400" y="2148840"/>
            <a:ext cx="42062400" cy="0"/>
          </a:xfrm>
          <a:prstGeom prst="line">
            <a:avLst/>
          </a:prstGeom>
          <a:noFill/>
          <a:ln w="12700">
            <a:solidFill>
              <a:srgbClr val="CBD5E1"/>
            </a:solidFill>
            <a:prstDash val="solid"/>
          </a:ln>
        </p:spPr>
      </p:sp>
      <p:sp>
        <p:nvSpPr>
          <p:cNvPr id="6" name="Shape 4"/>
          <p:cNvSpPr/>
          <p:nvPr/>
        </p:nvSpPr>
        <p:spPr>
          <a:xfrm>
            <a:off x="14218920" y="2651760"/>
            <a:ext cx="0" cy="21396960"/>
          </a:xfrm>
          <a:prstGeom prst="line">
            <a:avLst/>
          </a:prstGeom>
          <a:noFill/>
          <a:ln w="12700">
            <a:solidFill>
              <a:srgbClr val="E2E8F0"/>
            </a:solidFill>
            <a:prstDash val="solid"/>
          </a:ln>
        </p:spPr>
      </p:sp>
      <p:sp>
        <p:nvSpPr>
          <p:cNvPr id="7" name="Shape 5"/>
          <p:cNvSpPr/>
          <p:nvPr/>
        </p:nvSpPr>
        <p:spPr>
          <a:xfrm>
            <a:off x="28666440" y="2651760"/>
            <a:ext cx="0" cy="21396960"/>
          </a:xfrm>
          <a:prstGeom prst="line">
            <a:avLst/>
          </a:prstGeom>
          <a:noFill/>
          <a:ln w="12700">
            <a:solidFill>
              <a:srgbClr val="E2E8F0"/>
            </a:solidFill>
            <a:prstDash val="solid"/>
          </a:ln>
        </p:spPr>
      </p:sp>
      <p:sp>
        <p:nvSpPr>
          <p:cNvPr id="8" name="Text 6"/>
          <p:cNvSpPr/>
          <p:nvPr/>
        </p:nvSpPr>
        <p:spPr>
          <a:xfrm>
            <a:off x="1005840" y="2743200"/>
            <a:ext cx="1261872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1. Motivation and Challenge</a:t>
            </a:r>
            <a:endParaRPr lang="en-US" sz="2000" dirty="0"/>
          </a:p>
        </p:txBody>
      </p:sp>
      <p:sp>
        <p:nvSpPr>
          <p:cNvPr id="9" name="Text 7"/>
          <p:cNvSpPr/>
          <p:nvPr/>
        </p:nvSpPr>
        <p:spPr>
          <a:xfrm>
            <a:off x="1005840" y="3246120"/>
            <a:ext cx="12618720" cy="1417320"/>
          </a:xfrm>
          <a:prstGeom prst="rect">
            <a:avLst/>
          </a:prstGeom>
          <a:noFill/>
          <a:ln/>
        </p:spPr>
        <p:txBody>
          <a:bodyPr wrap="square" lIns="0" tIns="0" rIns="0" bIns="0" rtlCol="0" anchor="t">
            <a:normAutofit/>
          </a:bodyPr>
          <a:lstStyle/>
          <a:p>
            <a:pPr algn="l" indent="0" marL="0">
              <a:lnSpc>
                <a:spcPct val="92000"/>
              </a:lnSpc>
              <a:buNone/>
            </a:pPr>
            <a:r>
              <a:rPr lang="en-US" sz="1420" dirty="0">
                <a:solidFill>
                  <a:srgbClr val="334155"/>
                </a:solidFill>
                <a:latin typeface="Aptos" pitchFamily="34" charset="0"/>
                <a:ea typeface="Aptos" pitchFamily="34" charset="-122"/>
                <a:cs typeface="Aptos" pitchFamily="34" charset="-120"/>
              </a:rPr>
              <a:t>EEG seizure detection is difficult because seizure patterns are noisy, nonstationary, and highly patient dependent. Random window splits can leak patient-specific patterns, so this project uses patient-level train, validation, and test splits.</a:t>
            </a:r>
            <a:endParaRPr lang="en-US" sz="1420" dirty="0"/>
          </a:p>
        </p:txBody>
      </p:sp>
      <p:sp>
        <p:nvSpPr>
          <p:cNvPr id="10" name="Text 8"/>
          <p:cNvSpPr/>
          <p:nvPr/>
        </p:nvSpPr>
        <p:spPr>
          <a:xfrm>
            <a:off x="1005840" y="4892040"/>
            <a:ext cx="1261872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2. Dataset</a:t>
            </a:r>
            <a:endParaRPr lang="en-US" sz="2000" dirty="0"/>
          </a:p>
        </p:txBody>
      </p:sp>
      <p:sp>
        <p:nvSpPr>
          <p:cNvPr id="11" name="Text 9"/>
          <p:cNvSpPr/>
          <p:nvPr/>
        </p:nvSpPr>
        <p:spPr>
          <a:xfrm>
            <a:off x="1005840" y="5394960"/>
            <a:ext cx="12618720" cy="1600200"/>
          </a:xfrm>
          <a:prstGeom prst="rect">
            <a:avLst/>
          </a:prstGeom>
          <a:noFill/>
          <a:ln/>
        </p:spPr>
        <p:txBody>
          <a:bodyPr wrap="square" lIns="0" tIns="0" rIns="0" bIns="0" rtlCol="0" anchor="t">
            <a:normAutofit/>
          </a:bodyPr>
          <a:lstStyle/>
          <a:p>
            <a:pPr algn="l" indent="0" marL="0">
              <a:lnSpc>
                <a:spcPct val="92000"/>
              </a:lnSpc>
              <a:buNone/>
            </a:pPr>
            <a:r>
              <a:rPr lang="en-US" sz="1400" dirty="0">
                <a:solidFill>
                  <a:srgbClr val="334155"/>
                </a:solidFill>
                <a:latin typeface="Aptos" pitchFamily="34" charset="0"/>
                <a:ea typeface="Aptos" pitchFamily="34" charset="-122"/>
                <a:cs typeface="Aptos" pitchFamily="34" charset="-120"/>
              </a:rPr>
              <a:t>CHB-MIT scalp EEG database</a:t>
            </a:r>
            <a:endParaRPr lang="en-US" sz="1400" dirty="0"/>
          </a:p>
          <a:p>
            <a:pPr algn="l" indent="0" marL="0">
              <a:lnSpc>
                <a:spcPct val="92000"/>
              </a:lnSpc>
              <a:buNone/>
            </a:pPr>
            <a:r>
              <a:rPr lang="en-US" sz="1400" dirty="0">
                <a:solidFill>
                  <a:srgbClr val="334155"/>
                </a:solidFill>
                <a:latin typeface="Aptos" pitchFamily="34" charset="0"/>
                <a:ea typeface="Aptos" pitchFamily="34" charset="-122"/>
                <a:cs typeface="Aptos" pitchFamily="34" charset="-120"/>
              </a:rPr>
              <a:t>8 selected patients, 18 bipolar channels</a:t>
            </a:r>
            <a:endParaRPr lang="en-US" sz="1400" dirty="0"/>
          </a:p>
          <a:p>
            <a:pPr algn="l" indent="0" marL="0">
              <a:lnSpc>
                <a:spcPct val="92000"/>
              </a:lnSpc>
              <a:buNone/>
            </a:pPr>
            <a:r>
              <a:rPr lang="en-US" sz="1400" dirty="0">
                <a:solidFill>
                  <a:srgbClr val="334155"/>
                </a:solidFill>
                <a:latin typeface="Aptos" pitchFamily="34" charset="0"/>
                <a:ea typeface="Aptos" pitchFamily="34" charset="-122"/>
                <a:cs typeface="Aptos" pitchFamily="34" charset="-120"/>
              </a:rPr>
              <a:t>4 second windows with 2 second stride</a:t>
            </a:r>
            <a:endParaRPr lang="en-US" sz="1400" dirty="0"/>
          </a:p>
          <a:p>
            <a:pPr algn="l" indent="0" marL="0">
              <a:lnSpc>
                <a:spcPct val="92000"/>
              </a:lnSpc>
              <a:buNone/>
            </a:pPr>
            <a:r>
              <a:rPr lang="en-US" sz="1400" dirty="0">
                <a:solidFill>
                  <a:srgbClr val="334155"/>
                </a:solidFill>
                <a:latin typeface="Aptos" pitchFamily="34" charset="0"/>
                <a:ea typeface="Aptos" pitchFamily="34" charset="-122"/>
                <a:cs typeface="Aptos" pitchFamily="34" charset="-120"/>
              </a:rPr>
              <a:t>2,712 processed windows: 678 seizure and 2,034 non seizure</a:t>
            </a:r>
            <a:endParaRPr lang="en-US" sz="1400" dirty="0"/>
          </a:p>
        </p:txBody>
      </p:sp>
      <p:pic>
        <p:nvPicPr>
          <p:cNvPr id="12" name="Image 0" descr="/mnt/data/eeg_poster_assets/Figures/class_distribution.png">    </p:cNvPr>
          <p:cNvPicPr>
            <a:picLocks noChangeAspect="1"/>
          </p:cNvPicPr>
          <p:nvPr/>
        </p:nvPicPr>
        <p:blipFill>
          <a:blip r:embed="rId1"/>
          <a:stretch>
            <a:fillRect/>
          </a:stretch>
        </p:blipFill>
        <p:spPr>
          <a:xfrm>
            <a:off x="5200650" y="7086600"/>
            <a:ext cx="4229100" cy="3383280"/>
          </a:xfrm>
          <a:prstGeom prst="rect">
            <a:avLst/>
          </a:prstGeom>
        </p:spPr>
      </p:pic>
      <p:sp>
        <p:nvSpPr>
          <p:cNvPr id="13" name="Text 10"/>
          <p:cNvSpPr/>
          <p:nvPr/>
        </p:nvSpPr>
        <p:spPr>
          <a:xfrm>
            <a:off x="1005840" y="10515600"/>
            <a:ext cx="1261872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Processed seizure and non seizure window distribution</a:t>
            </a:r>
            <a:endParaRPr lang="en-US" sz="880" dirty="0"/>
          </a:p>
        </p:txBody>
      </p:sp>
      <p:sp>
        <p:nvSpPr>
          <p:cNvPr id="14" name="Text 11"/>
          <p:cNvSpPr/>
          <p:nvPr/>
        </p:nvSpPr>
        <p:spPr>
          <a:xfrm>
            <a:off x="1005840" y="11064240"/>
            <a:ext cx="1261872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3. Contributions</a:t>
            </a:r>
            <a:endParaRPr lang="en-US" sz="2000" dirty="0"/>
          </a:p>
        </p:txBody>
      </p:sp>
      <p:sp>
        <p:nvSpPr>
          <p:cNvPr id="15" name="Text 12"/>
          <p:cNvSpPr/>
          <p:nvPr/>
        </p:nvSpPr>
        <p:spPr>
          <a:xfrm>
            <a:off x="1005840" y="11567160"/>
            <a:ext cx="12618720" cy="2926080"/>
          </a:xfrm>
          <a:prstGeom prst="rect">
            <a:avLst/>
          </a:prstGeom>
          <a:noFill/>
          <a:ln/>
        </p:spPr>
        <p:txBody>
          <a:bodyPr wrap="square" lIns="0" tIns="0" rIns="0" bIns="0" rtlCol="0" anchor="t">
            <a:normAutofit/>
          </a:bodyPr>
          <a:lstStyle/>
          <a:p>
            <a:pPr algn="l">
              <a:lnSpc>
                <a:spcPct val="92000"/>
              </a:lnSpc>
            </a:pPr>
            <a:r>
              <a:rPr lang="en-US" sz="1340" dirty="0">
                <a:solidFill>
                  <a:srgbClr val="334155"/>
                </a:solidFill>
                <a:latin typeface="Aptos" pitchFamily="34" charset="0"/>
                <a:ea typeface="Aptos" pitchFamily="34" charset="-122"/>
                <a:cs typeface="Aptos" pitchFamily="34" charset="-120"/>
              </a:rPr>
              <a:t>Patient calibrated dynamic graph representation for EEG seizure detection.
</a:t>
            </a:r>
            <a:pPr algn="l">
              <a:lnSpc>
                <a:spcPct val="92000"/>
              </a:lnSpc>
            </a:pPr>
            <a:r>
              <a:rPr lang="en-US" sz="1340" dirty="0">
                <a:solidFill>
                  <a:srgbClr val="334155"/>
                </a:solidFill>
                <a:latin typeface="Aptos" pitchFamily="34" charset="0"/>
                <a:ea typeface="Aptos" pitchFamily="34" charset="-122"/>
                <a:cs typeface="Aptos" pitchFamily="34" charset="-120"/>
              </a:rPr>
              <a:t>Normal baseline graph estimated from reserved non seizure calibration windows.
</a:t>
            </a:r>
            <a:pPr algn="l">
              <a:lnSpc>
                <a:spcPct val="92000"/>
              </a:lnSpc>
            </a:pPr>
            <a:r>
              <a:rPr lang="en-US" sz="1340" dirty="0">
                <a:solidFill>
                  <a:srgbClr val="334155"/>
                </a:solidFill>
                <a:latin typeface="Aptos" pitchFamily="34" charset="0"/>
                <a:ea typeface="Aptos" pitchFamily="34" charset="-122"/>
                <a:cs typeface="Aptos" pitchFamily="34" charset="-120"/>
              </a:rPr>
              <a:t>Comparison with classical ML, MLP, Static GCN, Dynamic GCN, Dynamic GAT, calibrated GAT, and Hybrid DPC GAT.
</a:t>
            </a:r>
            <a:pPr algn="l">
              <a:lnSpc>
                <a:spcPct val="92000"/>
              </a:lnSpc>
            </a:pPr>
            <a:r>
              <a:rPr lang="en-US" sz="1340" dirty="0">
                <a:solidFill>
                  <a:srgbClr val="334155"/>
                </a:solidFill>
                <a:latin typeface="Aptos" pitchFamily="34" charset="0"/>
                <a:ea typeface="Aptos" pitchFamily="34" charset="-122"/>
                <a:cs typeface="Aptos" pitchFamily="34" charset="-120"/>
              </a:rPr>
              <a:t>Robust evaluation using bootstrap testing and repeated patient split analysis.</a:t>
            </a:r>
            <a:endParaRPr lang="en-US" sz="1340" dirty="0"/>
          </a:p>
        </p:txBody>
      </p:sp>
      <p:sp>
        <p:nvSpPr>
          <p:cNvPr id="16" name="Text 13"/>
          <p:cNvSpPr/>
          <p:nvPr/>
        </p:nvSpPr>
        <p:spPr>
          <a:xfrm>
            <a:off x="1005840" y="14859000"/>
            <a:ext cx="1261872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Why this is beyond a simple CNN task</a:t>
            </a:r>
            <a:endParaRPr lang="en-US" sz="2000" dirty="0"/>
          </a:p>
        </p:txBody>
      </p:sp>
      <p:sp>
        <p:nvSpPr>
          <p:cNvPr id="17" name="Text 14"/>
          <p:cNvSpPr/>
          <p:nvPr/>
        </p:nvSpPr>
        <p:spPr>
          <a:xfrm>
            <a:off x="1005840" y="15361920"/>
            <a:ext cx="12618720" cy="1828800"/>
          </a:xfrm>
          <a:prstGeom prst="rect">
            <a:avLst/>
          </a:prstGeom>
          <a:noFill/>
          <a:ln/>
        </p:spPr>
        <p:txBody>
          <a:bodyPr wrap="square" lIns="0" tIns="0" rIns="0" bIns="0" rtlCol="0" anchor="t">
            <a:normAutofit/>
          </a:bodyPr>
          <a:lstStyle/>
          <a:p>
            <a:pPr algn="l" indent="0" marL="0">
              <a:lnSpc>
                <a:spcPct val="92000"/>
              </a:lnSpc>
              <a:buNone/>
            </a:pPr>
            <a:r>
              <a:rPr lang="en-US" sz="1370" dirty="0">
                <a:solidFill>
                  <a:srgbClr val="334155"/>
                </a:solidFill>
                <a:latin typeface="Aptos" pitchFamily="34" charset="0"/>
                <a:ea typeface="Aptos" pitchFamily="34" charset="-122"/>
                <a:cs typeface="Aptos" pitchFamily="34" charset="-120"/>
              </a:rPr>
              <a:t>The main work is not image classification or transfer learning. The project builds patient-level EEG graphs, models functional connectivity with GNNs, calibrates graphs against patient baselines, and tests the result with repeated patient splits.</a:t>
            </a:r>
            <a:endParaRPr lang="en-US" sz="1370" dirty="0"/>
          </a:p>
        </p:txBody>
      </p:sp>
      <p:sp>
        <p:nvSpPr>
          <p:cNvPr id="18" name="Text 15"/>
          <p:cNvSpPr/>
          <p:nvPr/>
        </p:nvSpPr>
        <p:spPr>
          <a:xfrm>
            <a:off x="14813280" y="2743200"/>
            <a:ext cx="1335024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4. Methodology</a:t>
            </a:r>
            <a:endParaRPr lang="en-US" sz="2000" dirty="0"/>
          </a:p>
        </p:txBody>
      </p:sp>
      <p:sp>
        <p:nvSpPr>
          <p:cNvPr id="19" name="Text 16"/>
          <p:cNvSpPr/>
          <p:nvPr/>
        </p:nvSpPr>
        <p:spPr>
          <a:xfrm>
            <a:off x="14813280" y="3246120"/>
            <a:ext cx="13350240" cy="1463040"/>
          </a:xfrm>
          <a:prstGeom prst="rect">
            <a:avLst/>
          </a:prstGeom>
          <a:noFill/>
          <a:ln/>
        </p:spPr>
        <p:txBody>
          <a:bodyPr wrap="square" lIns="0" tIns="0" rIns="0" bIns="0" rtlCol="0" anchor="t">
            <a:normAutofit/>
          </a:bodyPr>
          <a:lstStyle/>
          <a:p>
            <a:pPr algn="l" indent="0" marL="0">
              <a:lnSpc>
                <a:spcPct val="92000"/>
              </a:lnSpc>
              <a:buNone/>
            </a:pPr>
            <a:r>
              <a:rPr lang="en-US" sz="1420" dirty="0">
                <a:solidFill>
                  <a:srgbClr val="334155"/>
                </a:solidFill>
                <a:latin typeface="Aptos" pitchFamily="34" charset="0"/>
                <a:ea typeface="Aptos" pitchFamily="34" charset="-122"/>
                <a:cs typeface="Aptos" pitchFamily="34" charset="-120"/>
              </a:rPr>
              <a:t>Raw EDF recordings  →  filtering and resampling  →  EEG windows  →  node features  →  dynamic correlation graph  →  patient baseline calibration  →  GCN/GAT models  →  validation tuned graph ensemble  →  unseen patient testing</a:t>
            </a:r>
            <a:endParaRPr lang="en-US" sz="1420" dirty="0"/>
          </a:p>
        </p:txBody>
      </p:sp>
      <p:sp>
        <p:nvSpPr>
          <p:cNvPr id="20" name="Text 17"/>
          <p:cNvSpPr/>
          <p:nvPr/>
        </p:nvSpPr>
        <p:spPr>
          <a:xfrm>
            <a:off x="14813280" y="4983480"/>
            <a:ext cx="1335024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Dynamic EEG Graph Representation</a:t>
            </a:r>
            <a:endParaRPr lang="en-US" sz="2000" dirty="0"/>
          </a:p>
        </p:txBody>
      </p:sp>
      <p:sp>
        <p:nvSpPr>
          <p:cNvPr id="21" name="Text 18"/>
          <p:cNvSpPr/>
          <p:nvPr/>
        </p:nvSpPr>
        <p:spPr>
          <a:xfrm>
            <a:off x="14813280" y="5486400"/>
            <a:ext cx="13350240" cy="1051560"/>
          </a:xfrm>
          <a:prstGeom prst="rect">
            <a:avLst/>
          </a:prstGeom>
          <a:noFill/>
          <a:ln/>
        </p:spPr>
        <p:txBody>
          <a:bodyPr wrap="square" lIns="0" tIns="0" rIns="0" bIns="0" rtlCol="0" anchor="t">
            <a:normAutofit/>
          </a:bodyPr>
          <a:lstStyle/>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Each EEG window becomes a graph: channels are nodes and correlation-based functional connectivity forms the edges. This captures how seizure activity changes relationships between brain regions.</a:t>
            </a:r>
            <a:endParaRPr lang="en-US" sz="1380" dirty="0"/>
          </a:p>
        </p:txBody>
      </p:sp>
      <p:pic>
        <p:nvPicPr>
          <p:cNvPr id="22" name="Image 1" descr="/mnt/data/eeg_poster_assets/Figures/graph_example_non_seizure.png">    </p:cNvPr>
          <p:cNvPicPr>
            <a:picLocks noChangeAspect="1"/>
          </p:cNvPicPr>
          <p:nvPr/>
        </p:nvPicPr>
        <p:blipFill>
          <a:blip r:embed="rId2"/>
          <a:stretch>
            <a:fillRect/>
          </a:stretch>
        </p:blipFill>
        <p:spPr>
          <a:xfrm>
            <a:off x="15453360" y="6537960"/>
            <a:ext cx="5029200" cy="4023360"/>
          </a:xfrm>
          <a:prstGeom prst="rect">
            <a:avLst/>
          </a:prstGeom>
        </p:spPr>
      </p:pic>
      <p:pic>
        <p:nvPicPr>
          <p:cNvPr id="23" name="Image 2" descr="/mnt/data/eeg_poster_assets/Figures/graph_example_seizure.png">    </p:cNvPr>
          <p:cNvPicPr>
            <a:picLocks noChangeAspect="1"/>
          </p:cNvPicPr>
          <p:nvPr/>
        </p:nvPicPr>
        <p:blipFill>
          <a:blip r:embed="rId3"/>
          <a:stretch>
            <a:fillRect/>
          </a:stretch>
        </p:blipFill>
        <p:spPr>
          <a:xfrm>
            <a:off x="22219920" y="6537960"/>
            <a:ext cx="5029200" cy="4023360"/>
          </a:xfrm>
          <a:prstGeom prst="rect">
            <a:avLst/>
          </a:prstGeom>
        </p:spPr>
      </p:pic>
      <p:sp>
        <p:nvSpPr>
          <p:cNvPr id="24" name="Text 19"/>
          <p:cNvSpPr/>
          <p:nvPr/>
        </p:nvSpPr>
        <p:spPr>
          <a:xfrm>
            <a:off x="14813280" y="10561320"/>
            <a:ext cx="630936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Non seizure example graph</a:t>
            </a:r>
            <a:endParaRPr lang="en-US" sz="880" dirty="0"/>
          </a:p>
        </p:txBody>
      </p:sp>
      <p:sp>
        <p:nvSpPr>
          <p:cNvPr id="25" name="Text 20"/>
          <p:cNvSpPr/>
          <p:nvPr/>
        </p:nvSpPr>
        <p:spPr>
          <a:xfrm>
            <a:off x="21579840" y="10561320"/>
            <a:ext cx="630936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Seizure example graph</a:t>
            </a:r>
            <a:endParaRPr lang="en-US" sz="880" dirty="0"/>
          </a:p>
        </p:txBody>
      </p:sp>
      <p:sp>
        <p:nvSpPr>
          <p:cNvPr id="26" name="Text 21"/>
          <p:cNvSpPr/>
          <p:nvPr/>
        </p:nvSpPr>
        <p:spPr>
          <a:xfrm>
            <a:off x="14813280" y="11155680"/>
            <a:ext cx="1335024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Patient Calibration</a:t>
            </a:r>
            <a:endParaRPr lang="en-US" sz="2000" dirty="0"/>
          </a:p>
        </p:txBody>
      </p:sp>
      <p:sp>
        <p:nvSpPr>
          <p:cNvPr id="27" name="Text 22"/>
          <p:cNvSpPr/>
          <p:nvPr/>
        </p:nvSpPr>
        <p:spPr>
          <a:xfrm>
            <a:off x="14813280" y="11658600"/>
            <a:ext cx="13350240" cy="1691640"/>
          </a:xfrm>
          <a:prstGeom prst="rect">
            <a:avLst/>
          </a:prstGeom>
          <a:noFill/>
          <a:ln/>
        </p:spPr>
        <p:txBody>
          <a:bodyPr wrap="square" lIns="0" tIns="0" rIns="0" bIns="0" rtlCol="0" anchor="t">
            <a:normAutofit/>
          </a:bodyPr>
          <a:lstStyle/>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For each patient, a normal baseline graph is estimated from reserved non seizure windows. Current graphs are recalibrated by their deviation from the patient baseline so abnormal connectivity changes become more visible to the model.</a:t>
            </a:r>
            <a:endParaRPr lang="en-US" sz="1380" dirty="0"/>
          </a:p>
        </p:txBody>
      </p:sp>
      <p:sp>
        <p:nvSpPr>
          <p:cNvPr id="28" name="Text 23"/>
          <p:cNvSpPr/>
          <p:nvPr/>
        </p:nvSpPr>
        <p:spPr>
          <a:xfrm>
            <a:off x="14813280" y="13624560"/>
            <a:ext cx="13350240" cy="320040"/>
          </a:xfrm>
          <a:prstGeom prst="rect">
            <a:avLst/>
          </a:prstGeom>
          <a:noFill/>
          <a:ln/>
        </p:spPr>
        <p:txBody>
          <a:bodyPr wrap="square" lIns="0" tIns="0" rIns="0" bIns="0" rtlCol="0" anchor="t">
            <a:normAutofit/>
          </a:bodyPr>
          <a:lstStyle/>
          <a:p>
            <a:pPr algn="l" indent="0" marL="0">
              <a:lnSpc>
                <a:spcPct val="92000"/>
              </a:lnSpc>
              <a:buNone/>
            </a:pPr>
            <a:r>
              <a:rPr lang="en-US" sz="1600" b="1" dirty="0">
                <a:solidFill>
                  <a:srgbClr val="0F172A"/>
                </a:solidFill>
                <a:latin typeface="Aptos" pitchFamily="34" charset="0"/>
                <a:ea typeface="Aptos" pitchFamily="34" charset="-122"/>
                <a:cs typeface="Aptos" pitchFamily="34" charset="-120"/>
              </a:rPr>
              <a:t>Mathematical idea</a:t>
            </a:r>
            <a:endParaRPr lang="en-US" sz="1600" dirty="0"/>
          </a:p>
        </p:txBody>
      </p:sp>
      <p:sp>
        <p:nvSpPr>
          <p:cNvPr id="29" name="Text 24"/>
          <p:cNvSpPr/>
          <p:nvPr/>
        </p:nvSpPr>
        <p:spPr>
          <a:xfrm>
            <a:off x="14813280" y="14036040"/>
            <a:ext cx="13350240" cy="1051560"/>
          </a:xfrm>
          <a:prstGeom prst="rect">
            <a:avLst/>
          </a:prstGeom>
          <a:noFill/>
          <a:ln/>
        </p:spPr>
        <p:txBody>
          <a:bodyPr wrap="square" lIns="0" tIns="0" rIns="0" bIns="0" rtlCol="0" anchor="t">
            <a:normAutofit/>
          </a:bodyPr>
          <a:lstStyle/>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Baseline graph: Bp = average normal graph for patient p</a:t>
            </a:r>
            <a:endParaRPr lang="en-US" sz="1380" dirty="0"/>
          </a:p>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Deviation: Δi = |Ai − Bp|</a:t>
            </a:r>
            <a:endParaRPr lang="en-US" sz="1380" dirty="0"/>
          </a:p>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Calibrated graph: Aical = Ai ⊙ (1 + αΔi)</a:t>
            </a:r>
            <a:endParaRPr lang="en-US" sz="1380" dirty="0"/>
          </a:p>
        </p:txBody>
      </p:sp>
      <p:sp>
        <p:nvSpPr>
          <p:cNvPr id="30" name="Text 25"/>
          <p:cNvSpPr/>
          <p:nvPr/>
        </p:nvSpPr>
        <p:spPr>
          <a:xfrm>
            <a:off x="14813280" y="15544800"/>
            <a:ext cx="1335024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Models Compared</a:t>
            </a:r>
            <a:endParaRPr lang="en-US" sz="2000" dirty="0"/>
          </a:p>
        </p:txBody>
      </p:sp>
      <p:sp>
        <p:nvSpPr>
          <p:cNvPr id="31" name="Text 26"/>
          <p:cNvSpPr/>
          <p:nvPr/>
        </p:nvSpPr>
        <p:spPr>
          <a:xfrm>
            <a:off x="14813280" y="16047720"/>
            <a:ext cx="13350240" cy="1234440"/>
          </a:xfrm>
          <a:prstGeom prst="rect">
            <a:avLst/>
          </a:prstGeom>
          <a:noFill/>
          <a:ln/>
        </p:spPr>
        <p:txBody>
          <a:bodyPr wrap="square" lIns="0" tIns="0" rIns="0" bIns="0" rtlCol="0" anchor="t">
            <a:normAutofit/>
          </a:bodyPr>
          <a:lstStyle/>
          <a:p>
            <a:pPr algn="l" indent="0" marL="0">
              <a:lnSpc>
                <a:spcPct val="92000"/>
              </a:lnSpc>
              <a:buNone/>
            </a:pPr>
            <a:r>
              <a:rPr lang="en-US" sz="1370" dirty="0">
                <a:solidFill>
                  <a:srgbClr val="334155"/>
                </a:solidFill>
                <a:latin typeface="Aptos" pitchFamily="34" charset="0"/>
                <a:ea typeface="Aptos" pitchFamily="34" charset="-122"/>
                <a:cs typeface="Aptos" pitchFamily="34" charset="-120"/>
              </a:rPr>
              <a:t>Logistic Regression, Random Forest, SVM RBF, MLP, Static GCN, Dynamic GCN, Dynamic GAT, Patient Calibrated GAT, Hybrid DPC GAT, and Validation Tuned Graph Ensemble.</a:t>
            </a:r>
            <a:endParaRPr lang="en-US" sz="1370" dirty="0"/>
          </a:p>
        </p:txBody>
      </p:sp>
      <p:sp>
        <p:nvSpPr>
          <p:cNvPr id="32" name="Text 27"/>
          <p:cNvSpPr/>
          <p:nvPr/>
        </p:nvSpPr>
        <p:spPr>
          <a:xfrm>
            <a:off x="14813280" y="17556480"/>
            <a:ext cx="1335024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Testing Strategy</a:t>
            </a:r>
            <a:endParaRPr lang="en-US" sz="2000" dirty="0"/>
          </a:p>
        </p:txBody>
      </p:sp>
      <p:sp>
        <p:nvSpPr>
          <p:cNvPr id="33" name="Text 28"/>
          <p:cNvSpPr/>
          <p:nvPr/>
        </p:nvSpPr>
        <p:spPr>
          <a:xfrm>
            <a:off x="14813280" y="18059400"/>
            <a:ext cx="13350240" cy="1828800"/>
          </a:xfrm>
          <a:prstGeom prst="rect">
            <a:avLst/>
          </a:prstGeom>
          <a:noFill/>
          <a:ln/>
        </p:spPr>
        <p:txBody>
          <a:bodyPr wrap="square" lIns="0" tIns="0" rIns="0" bIns="0" rtlCol="0" anchor="t">
            <a:normAutofit/>
          </a:bodyPr>
          <a:lstStyle/>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Primary patient-level split was used for final comparison. Bootstrap testing compared the final ensemble against Dynamic GCN. Repeated patient splits tested whether the improvement remained stable across different unseen patient assignments.</a:t>
            </a:r>
            <a:endParaRPr lang="en-US" sz="1380" dirty="0"/>
          </a:p>
        </p:txBody>
      </p:sp>
      <p:sp>
        <p:nvSpPr>
          <p:cNvPr id="34" name="Text 29"/>
          <p:cNvSpPr/>
          <p:nvPr/>
        </p:nvSpPr>
        <p:spPr>
          <a:xfrm>
            <a:off x="29260800" y="2743200"/>
            <a:ext cx="1362456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5. Main Results</a:t>
            </a:r>
            <a:endParaRPr lang="en-US" sz="2000" dirty="0"/>
          </a:p>
        </p:txBody>
      </p:sp>
      <p:sp>
        <p:nvSpPr>
          <p:cNvPr id="35" name="Text 30"/>
          <p:cNvSpPr/>
          <p:nvPr/>
        </p:nvSpPr>
        <p:spPr>
          <a:xfrm>
            <a:off x="29260800" y="3246120"/>
            <a:ext cx="13624560" cy="411480"/>
          </a:xfrm>
          <a:prstGeom prst="rect">
            <a:avLst/>
          </a:prstGeom>
          <a:noFill/>
          <a:ln/>
        </p:spPr>
        <p:txBody>
          <a:bodyPr wrap="square" lIns="0" tIns="0" rIns="0" bIns="0" rtlCol="0" anchor="t">
            <a:normAutofit/>
          </a:bodyPr>
          <a:lstStyle/>
          <a:p>
            <a:pPr algn="l" indent="0" marL="0">
              <a:lnSpc>
                <a:spcPct val="92000"/>
              </a:lnSpc>
              <a:buNone/>
            </a:pPr>
            <a:r>
              <a:rPr lang="en-US" sz="1680" b="1" dirty="0">
                <a:solidFill>
                  <a:srgbClr val="0F172A"/>
                </a:solidFill>
                <a:latin typeface="Aptos" pitchFamily="34" charset="0"/>
                <a:ea typeface="Aptos" pitchFamily="34" charset="-122"/>
                <a:cs typeface="Aptos" pitchFamily="34" charset="-120"/>
              </a:rPr>
              <a:t>Final method: Validation Tuned Graph Ensemble</a:t>
            </a:r>
            <a:endParaRPr lang="en-US" sz="1680" dirty="0"/>
          </a:p>
        </p:txBody>
      </p:sp>
      <p:sp>
        <p:nvSpPr>
          <p:cNvPr id="36" name="Text 31"/>
          <p:cNvSpPr/>
          <p:nvPr/>
        </p:nvSpPr>
        <p:spPr>
          <a:xfrm>
            <a:off x="29260800" y="3767328"/>
            <a:ext cx="13624560" cy="502920"/>
          </a:xfrm>
          <a:prstGeom prst="rect">
            <a:avLst/>
          </a:prstGeom>
          <a:noFill/>
          <a:ln/>
        </p:spPr>
        <p:txBody>
          <a:bodyPr wrap="square" lIns="0" tIns="0" rIns="0" bIns="0" rtlCol="0" anchor="t">
            <a:normAutofit/>
          </a:bodyPr>
          <a:lstStyle/>
          <a:p>
            <a:pPr algn="l" indent="0" marL="0">
              <a:lnSpc>
                <a:spcPct val="92000"/>
              </a:lnSpc>
              <a:buNone/>
            </a:pPr>
            <a:r>
              <a:rPr lang="en-US" sz="1370" b="1" dirty="0">
                <a:solidFill>
                  <a:srgbClr val="0E7490"/>
                </a:solidFill>
                <a:latin typeface="Aptos" pitchFamily="34" charset="0"/>
                <a:ea typeface="Aptos" pitchFamily="34" charset="-122"/>
                <a:cs typeface="Aptos" pitchFamily="34" charset="-120"/>
              </a:rPr>
              <a:t>Accuracy 0.8628   |   F1 0.8061   |   Recall 0.9813   |   ROC AUC 0.9836   |   FPR 0.1858</a:t>
            </a:r>
            <a:endParaRPr lang="en-US" sz="1370" dirty="0"/>
          </a:p>
        </p:txBody>
      </p:sp>
      <p:sp>
        <p:nvSpPr>
          <p:cNvPr id="37" name="Text 32"/>
          <p:cNvSpPr/>
          <p:nvPr/>
        </p:nvSpPr>
        <p:spPr>
          <a:xfrm>
            <a:off x="29260800" y="4343400"/>
            <a:ext cx="13624560" cy="960120"/>
          </a:xfrm>
          <a:prstGeom prst="rect">
            <a:avLst/>
          </a:prstGeom>
          <a:noFill/>
          <a:ln/>
        </p:spPr>
        <p:txBody>
          <a:bodyPr wrap="square" lIns="0" tIns="0" rIns="0" bIns="0" rtlCol="0" anchor="t">
            <a:normAutofit/>
          </a:bodyPr>
          <a:lstStyle/>
          <a:p>
            <a:pPr algn="l" indent="0" marL="0">
              <a:lnSpc>
                <a:spcPct val="92000"/>
              </a:lnSpc>
              <a:buNone/>
            </a:pPr>
            <a:r>
              <a:rPr lang="en-US" sz="1350" dirty="0">
                <a:solidFill>
                  <a:srgbClr val="334155"/>
                </a:solidFill>
                <a:latin typeface="Aptos" pitchFamily="34" charset="0"/>
                <a:ea typeface="Aptos" pitchFamily="34" charset="-122"/>
                <a:cs typeface="Aptos" pitchFamily="34" charset="-120"/>
              </a:rPr>
              <a:t>Compared with Dynamic GCN, the final ensemble improved F1 and reduced false positives from 109 to 97, while keeping seizure sensitivity very high.</a:t>
            </a:r>
            <a:endParaRPr lang="en-US" sz="1350" dirty="0"/>
          </a:p>
        </p:txBody>
      </p:sp>
      <p:pic>
        <p:nvPicPr>
          <p:cNvPr id="38" name="Image 3" descr="/mnt/data/eeg_poster_assets/Figures/main_method_comparison_f1.png">    </p:cNvPr>
          <p:cNvPicPr>
            <a:picLocks noChangeAspect="1"/>
          </p:cNvPicPr>
          <p:nvPr/>
        </p:nvPicPr>
        <p:blipFill>
          <a:blip r:embed="rId4"/>
          <a:stretch>
            <a:fillRect/>
          </a:stretch>
        </p:blipFill>
        <p:spPr>
          <a:xfrm>
            <a:off x="31683960" y="5440680"/>
            <a:ext cx="8778240" cy="3657600"/>
          </a:xfrm>
          <a:prstGeom prst="rect">
            <a:avLst/>
          </a:prstGeom>
        </p:spPr>
      </p:pic>
      <p:sp>
        <p:nvSpPr>
          <p:cNvPr id="39" name="Text 33"/>
          <p:cNvSpPr/>
          <p:nvPr/>
        </p:nvSpPr>
        <p:spPr>
          <a:xfrm>
            <a:off x="29260800" y="9125712"/>
            <a:ext cx="1362456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F1 score comparison across main methods</a:t>
            </a:r>
            <a:endParaRPr lang="en-US" sz="880" dirty="0"/>
          </a:p>
        </p:txBody>
      </p:sp>
      <p:pic>
        <p:nvPicPr>
          <p:cNvPr id="40" name="Image 4" descr="/mnt/data/eeg_poster_assets/Figures/confusion_matrix_final_model.png">    </p:cNvPr>
          <p:cNvPicPr>
            <a:picLocks noChangeAspect="1"/>
          </p:cNvPicPr>
          <p:nvPr/>
        </p:nvPicPr>
        <p:blipFill>
          <a:blip r:embed="rId5"/>
          <a:stretch>
            <a:fillRect/>
          </a:stretch>
        </p:blipFill>
        <p:spPr>
          <a:xfrm>
            <a:off x="29317950" y="9555480"/>
            <a:ext cx="6286500" cy="5029200"/>
          </a:xfrm>
          <a:prstGeom prst="rect">
            <a:avLst/>
          </a:prstGeom>
        </p:spPr>
      </p:pic>
      <p:pic>
        <p:nvPicPr>
          <p:cNvPr id="41" name="Image 5" descr="/mnt/data/eeg_poster_assets/Figures/roc_curve_final_model.png">    </p:cNvPr>
          <p:cNvPicPr>
            <a:picLocks noChangeAspect="1"/>
          </p:cNvPicPr>
          <p:nvPr/>
        </p:nvPicPr>
        <p:blipFill>
          <a:blip r:embed="rId6"/>
          <a:stretch>
            <a:fillRect/>
          </a:stretch>
        </p:blipFill>
        <p:spPr>
          <a:xfrm>
            <a:off x="36221670" y="9555480"/>
            <a:ext cx="6286500" cy="5029200"/>
          </a:xfrm>
          <a:prstGeom prst="rect">
            <a:avLst/>
          </a:prstGeom>
        </p:spPr>
      </p:pic>
      <p:sp>
        <p:nvSpPr>
          <p:cNvPr id="42" name="Text 34"/>
          <p:cNvSpPr/>
          <p:nvPr/>
        </p:nvSpPr>
        <p:spPr>
          <a:xfrm>
            <a:off x="29260800" y="14584680"/>
            <a:ext cx="640080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Confusion matrix: 210 detected seizure windows, 4 missed</a:t>
            </a:r>
            <a:endParaRPr lang="en-US" sz="880" dirty="0"/>
          </a:p>
        </p:txBody>
      </p:sp>
      <p:sp>
        <p:nvSpPr>
          <p:cNvPr id="43" name="Text 35"/>
          <p:cNvSpPr/>
          <p:nvPr/>
        </p:nvSpPr>
        <p:spPr>
          <a:xfrm>
            <a:off x="36164520" y="14584680"/>
            <a:ext cx="6400800" cy="274320"/>
          </a:xfrm>
          <a:prstGeom prst="rect">
            <a:avLst/>
          </a:prstGeom>
          <a:noFill/>
          <a:ln/>
        </p:spPr>
        <p:txBody>
          <a:bodyPr wrap="square" lIns="0" tIns="0" rIns="0" bIns="0" rtlCol="0" anchor="t">
            <a:normAutofit/>
          </a:bodyPr>
          <a:lstStyle/>
          <a:p>
            <a:pPr algn="ctr" indent="0" marL="0">
              <a:lnSpc>
                <a:spcPct val="92000"/>
              </a:lnSpc>
              <a:buNone/>
            </a:pPr>
            <a:r>
              <a:rPr lang="en-US" sz="880" dirty="0">
                <a:solidFill>
                  <a:srgbClr val="475569"/>
                </a:solidFill>
                <a:latin typeface="Aptos" pitchFamily="34" charset="0"/>
                <a:ea typeface="Aptos" pitchFamily="34" charset="-122"/>
                <a:cs typeface="Aptos" pitchFamily="34" charset="-120"/>
              </a:rPr>
              <a:t>ROC curve: AUC 0.9836</a:t>
            </a:r>
            <a:endParaRPr lang="en-US" sz="880" dirty="0"/>
          </a:p>
        </p:txBody>
      </p:sp>
      <p:sp>
        <p:nvSpPr>
          <p:cNvPr id="44" name="Text 36"/>
          <p:cNvSpPr/>
          <p:nvPr/>
        </p:nvSpPr>
        <p:spPr>
          <a:xfrm>
            <a:off x="29260800" y="15179040"/>
            <a:ext cx="1362456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6. Robustness and Limitation</a:t>
            </a:r>
            <a:endParaRPr lang="en-US" sz="2000" dirty="0"/>
          </a:p>
        </p:txBody>
      </p:sp>
      <p:sp>
        <p:nvSpPr>
          <p:cNvPr id="45" name="Text 37"/>
          <p:cNvSpPr/>
          <p:nvPr/>
        </p:nvSpPr>
        <p:spPr>
          <a:xfrm>
            <a:off x="29260800" y="15681960"/>
            <a:ext cx="13624560" cy="2194560"/>
          </a:xfrm>
          <a:prstGeom prst="rect">
            <a:avLst/>
          </a:prstGeom>
          <a:noFill/>
          <a:ln/>
        </p:spPr>
        <p:txBody>
          <a:bodyPr wrap="square" lIns="0" tIns="0" rIns="0" bIns="0" rtlCol="0" anchor="t">
            <a:normAutofit/>
          </a:bodyPr>
          <a:lstStyle/>
          <a:p>
            <a:pPr algn="l" indent="0" marL="0">
              <a:lnSpc>
                <a:spcPct val="92000"/>
              </a:lnSpc>
              <a:buNone/>
            </a:pPr>
            <a:r>
              <a:rPr lang="en-US" sz="1360" dirty="0">
                <a:solidFill>
                  <a:srgbClr val="334155"/>
                </a:solidFill>
                <a:latin typeface="Aptos" pitchFamily="34" charset="0"/>
                <a:ea typeface="Aptos" pitchFamily="34" charset="-122"/>
                <a:cs typeface="Aptos" pitchFamily="34" charset="-120"/>
              </a:rPr>
              <a:t>Bootstrap analysis supported the improvement trend on the main test split: higher F1 in 93.8% of resamples and lower false positive rate in 96.0% of resamples. However, repeated patient splits showed the gain is patient dependent, so the method should not be overclaimed as universally superior.</a:t>
            </a:r>
            <a:endParaRPr lang="en-US" sz="1360" dirty="0"/>
          </a:p>
        </p:txBody>
      </p:sp>
      <p:sp>
        <p:nvSpPr>
          <p:cNvPr id="46" name="Text 38"/>
          <p:cNvSpPr/>
          <p:nvPr/>
        </p:nvSpPr>
        <p:spPr>
          <a:xfrm>
            <a:off x="29260800" y="18288000"/>
            <a:ext cx="1362456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7. Conclusion</a:t>
            </a:r>
            <a:endParaRPr lang="en-US" sz="2000" dirty="0"/>
          </a:p>
        </p:txBody>
      </p:sp>
      <p:sp>
        <p:nvSpPr>
          <p:cNvPr id="47" name="Text 39"/>
          <p:cNvSpPr/>
          <p:nvPr/>
        </p:nvSpPr>
        <p:spPr>
          <a:xfrm>
            <a:off x="29260800" y="18790920"/>
            <a:ext cx="13624560" cy="2103120"/>
          </a:xfrm>
          <a:prstGeom prst="rect">
            <a:avLst/>
          </a:prstGeom>
          <a:noFill/>
          <a:ln/>
        </p:spPr>
        <p:txBody>
          <a:bodyPr wrap="square" lIns="0" tIns="0" rIns="0" bIns="0" rtlCol="0" anchor="t">
            <a:normAutofit/>
          </a:bodyPr>
          <a:lstStyle/>
          <a:p>
            <a:pPr algn="l" indent="0" marL="0">
              <a:lnSpc>
                <a:spcPct val="92000"/>
              </a:lnSpc>
              <a:buNone/>
            </a:pPr>
            <a:r>
              <a:rPr lang="en-US" sz="1380" dirty="0">
                <a:solidFill>
                  <a:srgbClr val="334155"/>
                </a:solidFill>
                <a:latin typeface="Aptos" pitchFamily="34" charset="0"/>
                <a:ea typeface="Aptos" pitchFamily="34" charset="-122"/>
                <a:cs typeface="Aptos" pitchFamily="34" charset="-120"/>
              </a:rPr>
              <a:t>Patient calibrated graph information can improve the main cross-patient EEG seizure detection result when combined with dynamic graph learning and validation tuned fusion. The final model achieved the best primary-split F1 score and reduced false positives, but robustness across patients remains the main challenge.</a:t>
            </a:r>
            <a:endParaRPr lang="en-US" sz="1380" dirty="0"/>
          </a:p>
        </p:txBody>
      </p:sp>
      <p:sp>
        <p:nvSpPr>
          <p:cNvPr id="48" name="Text 40"/>
          <p:cNvSpPr/>
          <p:nvPr/>
        </p:nvSpPr>
        <p:spPr>
          <a:xfrm>
            <a:off x="29260800" y="21168360"/>
            <a:ext cx="13624560" cy="411480"/>
          </a:xfrm>
          <a:prstGeom prst="rect">
            <a:avLst/>
          </a:prstGeom>
          <a:noFill/>
          <a:ln/>
        </p:spPr>
        <p:txBody>
          <a:bodyPr wrap="square" lIns="0" tIns="0" rIns="0" bIns="0" rtlCol="0" anchor="t">
            <a:normAutofit/>
          </a:bodyPr>
          <a:lstStyle/>
          <a:p>
            <a:pPr algn="l" indent="0" marL="0">
              <a:lnSpc>
                <a:spcPct val="92000"/>
              </a:lnSpc>
              <a:buNone/>
            </a:pPr>
            <a:r>
              <a:rPr lang="en-US" sz="2000" b="1" dirty="0">
                <a:solidFill>
                  <a:srgbClr val="0E7490"/>
                </a:solidFill>
                <a:latin typeface="Aptos Display" pitchFamily="34" charset="0"/>
                <a:ea typeface="Aptos Display" pitchFamily="34" charset="-122"/>
                <a:cs typeface="Aptos Display" pitchFamily="34" charset="-120"/>
              </a:rPr>
              <a:t>Future Work</a:t>
            </a:r>
            <a:endParaRPr lang="en-US" sz="2000" dirty="0"/>
          </a:p>
        </p:txBody>
      </p:sp>
      <p:sp>
        <p:nvSpPr>
          <p:cNvPr id="49" name="Text 41"/>
          <p:cNvSpPr/>
          <p:nvPr/>
        </p:nvSpPr>
        <p:spPr>
          <a:xfrm>
            <a:off x="29260800" y="21671280"/>
            <a:ext cx="13624560" cy="1280160"/>
          </a:xfrm>
          <a:prstGeom prst="rect">
            <a:avLst/>
          </a:prstGeom>
          <a:noFill/>
          <a:ln/>
        </p:spPr>
        <p:txBody>
          <a:bodyPr wrap="square" lIns="0" tIns="0" rIns="0" bIns="0" rtlCol="0" anchor="t">
            <a:normAutofit/>
          </a:bodyPr>
          <a:lstStyle/>
          <a:p>
            <a:pPr algn="l" indent="0" marL="0">
              <a:lnSpc>
                <a:spcPct val="92000"/>
              </a:lnSpc>
              <a:buNone/>
            </a:pPr>
            <a:r>
              <a:rPr lang="en-US" sz="1340" dirty="0">
                <a:solidFill>
                  <a:srgbClr val="334155"/>
                </a:solidFill>
                <a:latin typeface="Aptos" pitchFamily="34" charset="0"/>
                <a:ea typeface="Aptos" pitchFamily="34" charset="-122"/>
                <a:cs typeface="Aptos" pitchFamily="34" charset="-120"/>
              </a:rPr>
              <a:t>Use more patients, test more recordings, improve calibration stability, add temporal graph modeling, and optimize for lower false alarm rates while preserving high seizure sensitivity.</a:t>
            </a:r>
            <a:endParaRPr lang="en-US" sz="1340" dirty="0"/>
          </a:p>
        </p:txBody>
      </p:sp>
      <p:sp>
        <p:nvSpPr>
          <p:cNvPr id="50" name="Shape 42"/>
          <p:cNvSpPr/>
          <p:nvPr/>
        </p:nvSpPr>
        <p:spPr>
          <a:xfrm>
            <a:off x="914400" y="23682960"/>
            <a:ext cx="42062400" cy="0"/>
          </a:xfrm>
          <a:prstGeom prst="line">
            <a:avLst/>
          </a:prstGeom>
          <a:noFill/>
          <a:ln w="12700">
            <a:solidFill>
              <a:srgbClr val="CBD5E1"/>
            </a:solidFill>
            <a:prstDash val="solid"/>
          </a:ln>
        </p:spPr>
      </p:sp>
      <p:sp>
        <p:nvSpPr>
          <p:cNvPr id="51" name="Text 43"/>
          <p:cNvSpPr/>
          <p:nvPr/>
        </p:nvSpPr>
        <p:spPr>
          <a:xfrm>
            <a:off x="914400" y="23911560"/>
            <a:ext cx="42062400" cy="320040"/>
          </a:xfrm>
          <a:prstGeom prst="rect">
            <a:avLst/>
          </a:prstGeom>
          <a:noFill/>
          <a:ln/>
        </p:spPr>
        <p:txBody>
          <a:bodyPr wrap="square" lIns="0" tIns="0" rIns="0" bIns="0" rtlCol="0" anchor="t">
            <a:normAutofit/>
          </a:bodyPr>
          <a:lstStyle/>
          <a:p>
            <a:pPr algn="ctr" indent="0" marL="0">
              <a:lnSpc>
                <a:spcPct val="92000"/>
              </a:lnSpc>
              <a:buNone/>
            </a:pPr>
            <a:r>
              <a:rPr lang="en-US" sz="1300" dirty="0">
                <a:solidFill>
                  <a:srgbClr val="475569"/>
                </a:solidFill>
                <a:latin typeface="Aptos" pitchFamily="34" charset="0"/>
                <a:ea typeface="Aptos" pitchFamily="34" charset="-122"/>
                <a:cs typeface="Aptos" pitchFamily="34" charset="-120"/>
              </a:rPr>
              <a:t>Keywords: EEG seizure detection • graph neural networks • patient calibration • dynamic connectivity • cross-patient testing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Bahçeşehir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Calibrated Dynamic Graph Fusion for Cross-Patient EEG Seizure Detection</dc:title>
  <dc:subject>Deep Learning Final Project Poster</dc:subject>
  <dc:creator>ESMAIL IBRAHIM MOHAMMED AL-NAKEEB</dc:creator>
  <cp:lastModifiedBy>ESMAIL IBRAHIM MOHAMMED AL-NAKEEB</cp:lastModifiedBy>
  <cp:revision>1</cp:revision>
  <dcterms:created xsi:type="dcterms:W3CDTF">2026-06-02T10:36:44Z</dcterms:created>
  <dcterms:modified xsi:type="dcterms:W3CDTF">2026-06-02T10:36:44Z</dcterms:modified>
</cp:coreProperties>
</file>